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600200"/>
            <a:ext cx="10972800" cy="13716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800" b="1">
                <a:solidFill>
                  <a:srgbClr val="EA6A2C"/>
                </a:solidFill>
                <a:latin typeface="Arial"/>
              </a:rPr>
              <a:t>Assembling the residual for crystal plasticity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63240"/>
            <a:ext cx="603504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1033272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2294B"/>
                </a:solidFill>
                <a:latin typeface="Arial"/>
              </a:rPr>
              <a:t>Progress on the residual-assembly wrapper for the JHU UEL and UMAT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332720" cy="10058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000">
                <a:solidFill>
                  <a:srgbClr val="12294B"/>
                </a:solidFill>
                <a:latin typeface="Arial"/>
              </a:rPr>
              <a:t>Santiago Garcia      Harry Millwater      Arturo Montoya      David Restrepo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5B626B"/>
                </a:solidFill>
                <a:latin typeface="Arial"/>
              </a:rPr>
              <a:t>NASA STRI BZM      AMMS Lab, UTSA      July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Idea to solve JHU code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500">
                <a:solidFill>
                  <a:srgbClr val="12294B"/>
                </a:solidFill>
                <a:latin typeface="Arial"/>
              </a:rPr>
              <a:t>To use the residual method on their large crystal-plasticity model, we need </a:t>
            </a:r>
            <a:r>
              <a:rPr sz="2500" b="1">
                <a:solidFill>
                  <a:srgbClr val="12294B"/>
                </a:solidFill>
                <a:latin typeface="Arial"/>
              </a:rPr>
              <a:t>r(u, a)</a:t>
            </a:r>
            <a:r>
              <a:rPr sz="2500">
                <a:solidFill>
                  <a:srgbClr val="12294B"/>
                </a:solidFill>
                <a:latin typeface="Arial"/>
              </a:rPr>
              <a:t>, not just a stress update.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606040"/>
            <a:ext cx="3200400" cy="105156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9424" y="2606040"/>
            <a:ext cx="1737360" cy="10515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Element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Formulation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(UEL)</a:t>
            </a:r>
          </a:p>
        </p:txBody>
      </p:sp>
      <p:pic>
        <p:nvPicPr>
          <p:cNvPr id="10" name="Picture 9" descr="w_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2875788"/>
            <a:ext cx="700959" cy="5120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86800" y="2606040"/>
            <a:ext cx="3200400" cy="105156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33104" y="2606040"/>
            <a:ext cx="1737360" cy="10515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Material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Formulation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(UMAT)</a:t>
            </a:r>
          </a:p>
        </p:txBody>
      </p:sp>
      <p:pic>
        <p:nvPicPr>
          <p:cNvPr id="13" name="Picture 12" descr="w_s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3032" y="2875788"/>
            <a:ext cx="730545" cy="5120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92040" y="4526280"/>
            <a:ext cx="2788920" cy="109728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526280"/>
            <a:ext cx="2788920" cy="10972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Residual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assembler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93795" y="3657600"/>
            <a:ext cx="19050" cy="14173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5065395"/>
            <a:ext cx="118872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800600" y="4983480"/>
            <a:ext cx="182880" cy="18288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77475" y="3657600"/>
            <a:ext cx="19050" cy="14173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5065395"/>
            <a:ext cx="260604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6200000">
            <a:off x="7589520" y="4983480"/>
            <a:ext cx="182880" cy="18288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109960" cy="603504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861304"/>
            <a:ext cx="10744200" cy="49377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Deliverable: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A residual-assembly wrapper that lets JHU keep their UEL and UMAT, and overloads parameters after convergence.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A stress update is not the residual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300">
                <a:solidFill>
                  <a:srgbClr val="12294B"/>
                </a:solidFill>
                <a:latin typeface="Arial"/>
              </a:rPr>
              <a:t>The solver drives the </a:t>
            </a:r>
            <a:r>
              <a:rPr sz="2300" b="1">
                <a:solidFill>
                  <a:srgbClr val="12294B"/>
                </a:solidFill>
                <a:latin typeface="Arial"/>
              </a:rPr>
              <a:t>out-of-balance force</a:t>
            </a:r>
            <a:r>
              <a:rPr sz="2300">
                <a:solidFill>
                  <a:srgbClr val="12294B"/>
                </a:solidFill>
                <a:latin typeface="Arial"/>
              </a:rPr>
              <a:t> to zero, not the stress. The residual is the whole element weak form:</a:t>
            </a:r>
          </a:p>
        </p:txBody>
      </p:sp>
      <p:pic>
        <p:nvPicPr>
          <p:cNvPr id="8" name="Picture 7" descr="n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606040"/>
            <a:ext cx="4219015" cy="457200"/>
          </a:xfrm>
          <a:prstGeom prst="rect">
            <a:avLst/>
          </a:prstGeom>
        </p:spPr>
      </p:pic>
      <p:pic>
        <p:nvPicPr>
          <p:cNvPr id="9" name="Picture 8" descr="n_f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383280"/>
            <a:ext cx="1362456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900">
                <a:solidFill>
                  <a:srgbClr val="12294B"/>
                </a:solidFill>
                <a:latin typeface="Arial"/>
              </a:rPr>
              <a:t>The UMAT gives the stress. The UEL gives the element operator B. Neither one is the residual.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900">
                <a:solidFill>
                  <a:srgbClr val="12294B"/>
                </a:solidFill>
                <a:latin typeface="Arial"/>
              </a:rPr>
              <a:t>To assemble r we also need the mesh, the converged solution, the loads and boundary conditions, and the state.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900" b="1">
                <a:solidFill>
                  <a:srgbClr val="12294B"/>
                </a:solidFill>
                <a:latin typeface="Arial"/>
              </a:rPr>
              <a:t>The question we answered: what is the full set of inputs that turns a stress update into r(u, a)?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What the assembler actually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2294B"/>
                </a:solidFill>
                <a:latin typeface="Arial"/>
              </a:rPr>
              <a:t>We have now fixed the complete input set. Three groups feed one assembler.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429000" cy="205740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121408"/>
            <a:ext cx="3154680" cy="18379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A6A2C"/>
                </a:solidFill>
                <a:latin typeface="Arial"/>
              </a:rPr>
              <a:t>From JHU's subroutines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UEL: element operator B and strain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UMAT: stress and material tangent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2011680"/>
            <a:ext cx="3429000" cy="205740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6" y="2121408"/>
            <a:ext cx="3154680" cy="18379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A6A2C"/>
                </a:solidFill>
                <a:latin typeface="Arial"/>
              </a:rPr>
              <a:t>From the model and results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mesh and connectivity (.inp)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converged solution U (ODB)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state variables STATEV (ODB)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loads, boundary conditions,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2984" y="2011680"/>
            <a:ext cx="3429000" cy="205740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2121408"/>
            <a:ext cx="3154680" cy="183794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A6A2C"/>
                </a:solidFill>
                <a:latin typeface="Arial"/>
              </a:rPr>
              <a:t>The request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parameters to differentiate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sensitivity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663440"/>
            <a:ext cx="2788920" cy="932688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4663440"/>
            <a:ext cx="2788920" cy="93268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Residual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assembler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07895" y="4069080"/>
            <a:ext cx="19050" cy="10607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420" y="5120259"/>
            <a:ext cx="2491740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617720" y="5038344"/>
            <a:ext cx="182880" cy="18288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2927" y="4069080"/>
            <a:ext cx="19050" cy="594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02452" y="4653915"/>
            <a:ext cx="201168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6012180" y="4572000"/>
            <a:ext cx="182880" cy="18288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77959" y="4069080"/>
            <a:ext cx="19050" cy="10607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0" y="5120259"/>
            <a:ext cx="2089404" cy="1905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6200000">
            <a:off x="7406640" y="5038344"/>
            <a:ext cx="182880" cy="18288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6003036" y="5678424"/>
            <a:ext cx="201168" cy="201168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852160"/>
            <a:ext cx="8503920" cy="5029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EA6A2C"/>
                </a:solidFill>
                <a:latin typeface="Arial"/>
              </a:rPr>
              <a:t>out: </a:t>
            </a:r>
            <a:r>
              <a:rPr sz="1800">
                <a:solidFill>
                  <a:srgbClr val="12294B"/>
                </a:solidFill>
                <a:latin typeface="Arial"/>
              </a:rPr>
              <a:t>r(u, a), and the sensitivities du/da for every parameter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JHU keeps their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2294B"/>
                </a:solidFill>
                <a:latin typeface="Arial"/>
              </a:rPr>
              <a:t>Every input is something JHU already has. We wrap it; the physics does not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486400" cy="3657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A6A2C"/>
                </a:solidFill>
                <a:latin typeface="Arial"/>
              </a:rPr>
              <a:t>From the subroutines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00">
                <a:solidFill>
                  <a:srgbClr val="12294B"/>
                </a:solidFill>
                <a:latin typeface="Arial"/>
              </a:rPr>
              <a:t>the UEL already returns the element residual operator and the strain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00">
                <a:solidFill>
                  <a:srgbClr val="12294B"/>
                </a:solidFill>
                <a:latin typeface="Arial"/>
              </a:rPr>
              <a:t>the UMAT already returns the stress and the material tangent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700">
                <a:solidFill>
                  <a:srgbClr val="12294B"/>
                </a:solidFill>
                <a:latin typeface="Arial"/>
              </a:rPr>
              <a:t>parameters are seeded only after the solve has converged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394960" cy="36576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A6A2C"/>
                </a:solidFill>
                <a:latin typeface="Arial"/>
              </a:rPr>
              <a:t>From the Abaqus model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00">
                <a:solidFill>
                  <a:srgbClr val="12294B"/>
                </a:solidFill>
                <a:latin typeface="Arial"/>
              </a:rPr>
              <a:t>the input deck gives the mesh, sections, loads and boundary conditions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00">
                <a:solidFill>
                  <a:srgbClr val="12294B"/>
                </a:solidFill>
                <a:latin typeface="Arial"/>
              </a:rPr>
              <a:t>the ODB gives the converged solution and the state variables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700">
                <a:solidFill>
                  <a:srgbClr val="12294B"/>
                </a:solidFill>
                <a:latin typeface="Arial"/>
              </a:rPr>
              <a:t>nothing is rewritten inside their solver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532120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586984"/>
            <a:ext cx="10789920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In one line: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JHU brings a converged crystal-plasticity solve and their two subroutines. We assemble r(u, a) and return the parameter sensitivities.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What the wrapper does with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2076236" cy="160020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2076236" cy="1600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assemble
r(u, a) at the
converged state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579156" y="3214116"/>
            <a:ext cx="201168" cy="201168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0324" y="2514600"/>
            <a:ext cx="2076236" cy="1600200"/>
          </a:xfrm>
          <a:prstGeom prst="roundRect">
            <a:avLst>
              <a:gd name="adj" fmla="val 11000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0324" y="2514600"/>
            <a:ext cx="2076236" cy="1600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overload the
parameters
after convergence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4856561" y="3214116"/>
            <a:ext cx="201168" cy="201168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7729" y="2514600"/>
            <a:ext cx="2076236" cy="1600200"/>
          </a:xfrm>
          <a:prstGeom prst="roundRect">
            <a:avLst>
              <a:gd name="adj" fmla="val 11000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7729" y="2514600"/>
            <a:ext cx="2076236" cy="1600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extract the
coefficients
r(p)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7133965" y="3214116"/>
            <a:ext cx="201168" cy="201168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35133" y="2514600"/>
            <a:ext cx="2076236" cy="160020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5133" y="2514600"/>
            <a:ext cx="2076236" cy="1600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solve
K U(p) = -R(p)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9411370" y="3214116"/>
            <a:ext cx="201168" cy="201168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12538" y="2514600"/>
            <a:ext cx="2076236" cy="1600200"/>
          </a:xfrm>
          <a:prstGeom prst="roundRect">
            <a:avLst>
              <a:gd name="adj" fmla="val 11000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2538" y="2514600"/>
            <a:ext cx="2076236" cy="1600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parameter
sensitivities
du/da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12294B"/>
                </a:solidFill>
                <a:latin typeface="Arial"/>
              </a:rPr>
              <a:t>The real Newton solve stays in ordinary arithmetic. Parameters are seeded only </a:t>
            </a:r>
            <a:r>
              <a:rPr sz="2000" b="1">
                <a:solidFill>
                  <a:srgbClr val="12294B"/>
                </a:solidFill>
                <a:latin typeface="Arial"/>
              </a:rPr>
              <a:t>after convergence</a:t>
            </a:r>
            <a:r>
              <a:rPr sz="2000">
                <a:solidFill>
                  <a:srgbClr val="12294B"/>
                </a:solidFill>
                <a:latin typeface="Arial"/>
              </a:rPr>
              <a:t>, so the solver path and the tangent are untouched.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626864"/>
            <a:ext cx="10789920" cy="144475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Why this is cheap: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The tangent K is formed once and reused. Each extra order costs one more right-hand side and a back substitution, not a new nonlinear solve. No Abaqus re-runs.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What comes out, and how JHU uses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100">
                <a:solidFill>
                  <a:srgbClr val="12294B"/>
                </a:solidFill>
                <a:latin typeface="Arial"/>
              </a:rPr>
              <a:t>From the one converged solve, JHU gets </a:t>
            </a:r>
            <a:r>
              <a:rPr sz="2100" b="1">
                <a:solidFill>
                  <a:srgbClr val="12294B"/>
                </a:solidFill>
                <a:latin typeface="Arial"/>
              </a:rPr>
              <a:t>du/da for every parameter</a:t>
            </a:r>
            <a:r>
              <a:rPr sz="2100">
                <a:solidFill>
                  <a:srgbClr val="12294B"/>
                </a:solidFill>
                <a:latin typeface="Arial"/>
              </a:rPr>
              <a:t>, to machine accuracy, with no extra Abaqus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5486400" cy="32918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A6A2C"/>
                </a:solidFill>
                <a:latin typeface="Arial"/>
              </a:rPr>
              <a:t>You can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calibrate or invert the material parameters with a gradient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propagate parameter uncertainty to the solution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rank which parameters matter most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predict the solution for a parameter change without re-running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5394960" cy="32918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A6A2C"/>
                </a:solidFill>
                <a:latin typeface="Arial"/>
              </a:rPr>
              <a:t>You get back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the residual r(u, a), exposed for the first time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the solution sensitivities du/da, first and higher order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750">
                <a:solidFill>
                  <a:srgbClr val="12294B"/>
                </a:solidFill>
                <a:latin typeface="Arial"/>
              </a:rPr>
              <a:t>a report that shares norms and rankings, but not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486400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541264"/>
            <a:ext cx="10789920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For an Abaqus user: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Point the wrapper at the input deck and the ODB of a converged increment. It reads the mesh, solution and state, then returns du/da without editing or re-running the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How to use it: one element, worked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2294B"/>
                </a:solidFill>
                <a:latin typeface="Arial"/>
              </a:rPr>
              <a:t>Feed the assembler a case whose answer you already know. Here: one C3D8 cube under a uniform 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611880" cy="214884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22576"/>
            <a:ext cx="3337560" cy="18928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A6A2C"/>
                </a:solidFill>
                <a:latin typeface="Arial"/>
              </a:rPr>
              <a:t>You give it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one C3D8 cube, 8 nodes, 1 mm side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Cauchy stress at each integration point: 100 MPa pulling along x, rest zero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the element operator B from the UEL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94560"/>
            <a:ext cx="2880360" cy="214884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450592"/>
            <a:ext cx="288036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Residual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assembler</a:t>
            </a:r>
          </a:p>
        </p:txBody>
      </p:sp>
      <p:pic>
        <p:nvPicPr>
          <p:cNvPr id="12" name="Picture 11" descr="w_f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20440"/>
            <a:ext cx="2240280" cy="94810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2194560"/>
            <a:ext cx="3959352" cy="2148840"/>
          </a:xfrm>
          <a:prstGeom prst="roundRect">
            <a:avLst>
              <a:gd name="adj" fmla="val 11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2322576"/>
            <a:ext cx="3657600" cy="18928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A6A2C"/>
                </a:solidFill>
                <a:latin typeface="Arial"/>
              </a:rPr>
              <a:t>You get back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24 nodal internal forces (3 per node)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+25 N on each node of the loaded face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25 N pushing back on the opposite face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Arial"/>
              </a:rPr>
              <a:t>zero on every other component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187952" y="3159252"/>
            <a:ext cx="219456" cy="219456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7443216" y="3159252"/>
            <a:ext cx="219456" cy="219456"/>
          </a:xfrm>
          <a:prstGeom prst="triangle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672584"/>
            <a:ext cx="10817352" cy="9418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Check: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Statics says 100 MPa on a 1 mm face is 100 N, split evenly over 4 nodes, so 25 N each. The assembler returns exactly that, to a relative error of 5e-16. That is the leftmost bar of the next chart.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How every check in the chart is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900">
                <a:solidFill>
                  <a:srgbClr val="12294B"/>
                </a:solidFill>
                <a:latin typeface="Arial"/>
              </a:rPr>
              <a:t>Same recipe each time: pick a state whose residual is known in closed form, assemble it, compare.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03120"/>
          <a:ext cx="11155679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3246120"/>
                <a:gridCol w="3977639"/>
                <a:gridCol w="14173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88900" marR="88900" marT="25400" marB="25400" anchor="ctr">
                    <a:solidFill>
                      <a:srgbClr val="1229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State fed in</a:t>
                      </a:r>
                    </a:p>
                  </a:txBody>
                  <a:tcPr marL="88900" marR="88900" marT="25400" marB="25400" anchor="ctr">
                    <a:solidFill>
                      <a:srgbClr val="1229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Compared against</a:t>
                      </a:r>
                    </a:p>
                  </a:txBody>
                  <a:tcPr marL="88900" marR="88900" marT="25400" marB="25400" anchor="ctr">
                    <a:solidFill>
                      <a:srgbClr val="12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Rel. error</a:t>
                      </a:r>
                    </a:p>
                  </a:txBody>
                  <a:tcPr marL="88900" marR="88900" marT="25400" marB="25400" anchor="ctr">
                    <a:solidFill>
                      <a:srgbClr val="1229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Divergence patch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uniform stress, one hex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surface-traction nodal forces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A6A2C"/>
                          </a:solidFill>
                          <a:latin typeface="Arial"/>
                        </a:rPr>
                        <a:t>5e-16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Linear-stress + body load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linear stress field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exact body-force balance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A6A2C"/>
                          </a:solidFill>
                          <a:latin typeface="Arial"/>
                        </a:rPr>
                        <a:t>1e-13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Self-equilibrium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uniform stress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zero net force and moment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A6A2C"/>
                          </a:solidFill>
                          <a:latin typeface="Arial"/>
                        </a:rPr>
                        <a:t>1e-13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Small-strain tangent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a small change in u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finite difference of f_int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A6A2C"/>
                          </a:solidFill>
                          <a:latin typeface="Arial"/>
                        </a:rPr>
                        <a:t>2e-16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Frame objectivity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rigid rotation of the element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rotated stress, rotated forces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A6A2C"/>
                          </a:solidFill>
                          <a:latin typeface="Arial"/>
                        </a:rPr>
                        <a:t>5e-16</a:t>
                      </a:r>
                    </a:p>
                  </a:txBody>
                  <a:tcPr marL="88900" marR="88900" marT="25400" marB="25400" anchor="ctr"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Core vs kernel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identical inputs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2294B"/>
                          </a:solidFill>
                          <a:latin typeface="Arial"/>
                        </a:rPr>
                        <a:t>the original hand kernel, bitwise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A6A2C"/>
                          </a:solidFill>
                          <a:latin typeface="Arial"/>
                        </a:rPr>
                        <a:t>= 0</a:t>
                      </a:r>
                    </a:p>
                  </a:txBody>
                  <a:tcPr marL="88900" marR="889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532120"/>
            <a:ext cx="11183112" cy="822960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586984"/>
            <a:ext cx="10817352" cy="7132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The point: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Every bar is the assembled residual against an answer known ahead of time, not against another program. The Abaqus reaction-force comparison is the one check still waiting on a license.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pic>
        <p:nvPicPr>
          <p:cNvPr id="7" name="Picture 6" descr="fig_ver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6279826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554480"/>
            <a:ext cx="4206240" cy="44805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900" b="1">
                <a:solidFill>
                  <a:srgbClr val="EA6A2C"/>
                </a:solidFill>
                <a:latin typeface="Arial"/>
              </a:rPr>
              <a:t>Done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50">
                <a:solidFill>
                  <a:srgbClr val="12294B"/>
                </a:solidFill>
                <a:latin typeface="Arial"/>
              </a:rPr>
              <a:t>the full input contract is defined (this deck)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50">
                <a:solidFill>
                  <a:srgbClr val="12294B"/>
                </a:solidFill>
                <a:latin typeface="Arial"/>
              </a:rPr>
              <a:t>the assembler builds r for the C3D8 element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50">
                <a:solidFill>
                  <a:srgbClr val="12294B"/>
                </a:solidFill>
                <a:latin typeface="Arial"/>
              </a:rPr>
              <a:t>every offline check matches its known answer (left)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650">
                <a:solidFill>
                  <a:srgbClr val="12294B"/>
                </a:solidFill>
                <a:latin typeface="Arial"/>
              </a:rPr>
              <a:t>it runs against the genuine OTILib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47120" cy="58521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3000" b="1">
                <a:solidFill>
                  <a:srgbClr val="EA6A2C"/>
                </a:solidFill>
                <a:latin typeface="Arial"/>
              </a:rPr>
              <a:t>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2"/>
            <a:ext cx="265176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73952"/>
            <a:ext cx="9144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45720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2000">
                <a:solidFill>
                  <a:srgbClr val="12294B"/>
                </a:solidFill>
                <a:latin typeface="Arial"/>
              </a:rPr>
              <a:t>Wire JHU's actual UEL and UMAT through the wrapper on a single element, then a small mesh.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2000">
                <a:solidFill>
                  <a:srgbClr val="12294B"/>
                </a:solidFill>
                <a:latin typeface="Arial"/>
              </a:rPr>
              <a:t>Reach the parameter sensitivities: either make the element kernels carry OTI numbers, or feed the OTI-transformed UMAT into the assembler.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  <a:buFont typeface="Arial"/>
              <a:buChar char="•"/>
            </a:pPr>
            <a:r>
              <a:rPr sz="2000">
                <a:solidFill>
                  <a:srgbClr val="12294B"/>
                </a:solidFill>
                <a:latin typeface="Arial"/>
              </a:rPr>
              <a:t>Check the assembled residual against Abaqus reaction forces at the converged increment.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2000">
                <a:solidFill>
                  <a:srgbClr val="12294B"/>
                </a:solidFill>
                <a:latin typeface="Arial"/>
              </a:rPr>
              <a:t>Extend beyond C3D8, and apply distributed loads and linear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25780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E4EFD1"/>
          </a:solidFill>
          <a:ln w="15875">
            <a:solidFill>
              <a:srgbClr val="B4C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312664"/>
            <a:ext cx="10789920" cy="89611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94B"/>
                </a:solidFill>
                <a:latin typeface="Arial"/>
              </a:rPr>
              <a:t>Next milestone: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>
                <a:solidFill>
                  <a:srgbClr val="12294B"/>
                </a:solidFill>
                <a:latin typeface="Arial"/>
              </a:rPr>
              <a:t>One JHU element assembled through the wrapper, its residual matched to the Abaqus reaction at the converged increment, and first-order du/da returned.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5720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4600" b="1">
                <a:solidFill>
                  <a:srgbClr val="EA6A2C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00400"/>
            <a:ext cx="3657600" cy="57150"/>
          </a:xfrm>
          <a:prstGeom prst="rect">
            <a:avLst/>
          </a:prstGeom>
          <a:solidFill>
            <a:srgbClr val="EA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10332720" cy="11887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2200">
                <a:solidFill>
                  <a:srgbClr val="12294B"/>
                </a:solidFill>
                <a:latin typeface="Arial"/>
              </a:rPr>
              <a:t>JHU keeps their UEL and UMAT and their converged solve.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2294B"/>
                </a:solidFill>
                <a:latin typeface="Arial"/>
              </a:rPr>
              <a:t>We assemble the residual and hand back the parameter sensitivities.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