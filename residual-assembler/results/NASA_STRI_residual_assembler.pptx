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A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881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Model-agnostic material sensitivities via OTI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9EC2E8"/>
                </a:solidFill>
                <a:latin typeface="Calibri"/>
              </a:rPr>
              <a:t>A two-program residual-assembler framework, verified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Program 1 — UMAT to OTI source transformation      Program 2 — offline residual assembler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9EC2E8"/>
                </a:solidFill>
                <a:latin typeface="Calibri"/>
              </a:rPr>
              <a:t>Reference throughout: central finite differences of the original UMAT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7FA6CC"/>
                </a:solidFill>
                <a:latin typeface="Calibri"/>
              </a:rPr>
              <a:t>NASA STRI project  ·  Dept. of Mechanical, Aerospace &amp; Industrial Engineering, UT San Antonio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A7FD4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Two programs, one protected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2A7FD4"/>
                </a:solidFill>
              </a:rPr>
              <a:t>•  </a:t>
            </a:r>
            <a:r>
              <a:rPr sz="1600" b="0" i="0">
                <a:solidFill>
                  <a:srgbClr val="1F2D3A"/>
                </a:solidFill>
                <a:latin typeface="Calibri"/>
              </a:rPr>
              <a:t>JHU develops and maintains the private material-model source; collaborators run production analyses with the compiled binaries.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2A7FD4"/>
                </a:solidFill>
              </a:rPr>
              <a:t>•  </a:t>
            </a:r>
            <a:r>
              <a:rPr sz="1600" b="0" i="0">
                <a:solidFill>
                  <a:srgbClr val="1F2D3A"/>
                </a:solidFill>
                <a:latin typeface="Calibri"/>
              </a:rPr>
              <a:t>The residual method needs stress derivatives w.r.t. material parameters — a normal UMAT cannot return them.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2A7FD4"/>
                </a:solidFill>
              </a:rPr>
              <a:t>•  </a:t>
            </a:r>
            <a:r>
              <a:rPr sz="1600" b="0" i="0">
                <a:solidFill>
                  <a:srgbClr val="1F2D3A"/>
                </a:solidFill>
                <a:latin typeface="Calibri"/>
              </a:rPr>
              <a:t>Two separately-distributable programs solve this without exposing the source or rerunning the production analysis.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383280"/>
            <a:ext cx="1727149" cy="566928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438144"/>
            <a:ext cx="163570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4E79"/>
                </a:solidFill>
                <a:latin typeface="Calibri"/>
              </a:rPr>
              <a:t>JHU private</a:t>
            </a:r>
          </a:p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4E79"/>
                </a:solidFill>
                <a:latin typeface="Calibri"/>
              </a:rPr>
              <a:t>UMAT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1781" y="3474720"/>
            <a:ext cx="2011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A7FD4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94661" y="3383280"/>
            <a:ext cx="1727149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40381" y="3438144"/>
            <a:ext cx="163570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2D3A"/>
                </a:solidFill>
                <a:latin typeface="Calibri"/>
              </a:rPr>
              <a:t>UMAT→OTI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2D3A"/>
                </a:solidFill>
                <a:latin typeface="Calibri"/>
              </a:rPr>
              <a:t>transform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03522" y="3474720"/>
            <a:ext cx="2011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A7FD4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6402" y="3383280"/>
            <a:ext cx="1727149" cy="566928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2122" y="3438144"/>
            <a:ext cx="163570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4E79"/>
                </a:solidFill>
                <a:latin typeface="Calibri"/>
              </a:rPr>
              <a:t>umat_&lt;name&gt;_oti.obj</a:t>
            </a:r>
          </a:p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4E79"/>
                </a:solidFill>
                <a:latin typeface="Calibri"/>
              </a:rPr>
              <a:t>+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95263" y="3474720"/>
            <a:ext cx="2011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A7FD4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3" y="3383280"/>
            <a:ext cx="1727149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3863" y="3438144"/>
            <a:ext cx="163570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2D3A"/>
                </a:solidFill>
                <a:latin typeface="Calibri"/>
              </a:rPr>
              <a:t>collaborator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2D3A"/>
                </a:solidFill>
                <a:latin typeface="Calibri"/>
              </a:rPr>
              <a:t>FE 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7004" y="3474720"/>
            <a:ext cx="2011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A7FD4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9884" y="3383280"/>
            <a:ext cx="1727149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5604" y="3438144"/>
            <a:ext cx="163570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2D3A"/>
                </a:solidFill>
                <a:latin typeface="Calibri"/>
              </a:rPr>
              <a:t>residual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2D3A"/>
                </a:solidFill>
                <a:latin typeface="Calibri"/>
              </a:rPr>
              <a:t>assembler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78745" y="3474720"/>
            <a:ext cx="2011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A7FD4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61625" y="3383280"/>
            <a:ext cx="1727149" cy="566928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07345" y="3438144"/>
            <a:ext cx="163570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4E79"/>
                </a:solidFill>
                <a:latin typeface="Calibri"/>
              </a:rPr>
              <a:t>∂q/∂p</a:t>
            </a:r>
          </a:p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4E79"/>
                </a:solidFill>
                <a:latin typeface="Calibri"/>
              </a:rPr>
              <a:t>sensitivities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480560"/>
            <a:ext cx="11155680" cy="868680"/>
          </a:xfrm>
          <a:prstGeom prst="roundRect">
            <a:avLst/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4572000"/>
            <a:ext cx="1082649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75623"/>
                </a:solidFill>
                <a:latin typeface="Calibri"/>
              </a:rPr>
              <a:t>Only versioned public contracts and the OTI-enabled .obj cross the boundary — the material source stays private and the production analysis is unchanged.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5778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5B6B7A"/>
                </a:solidFill>
                <a:latin typeface="Calibri"/>
              </a:rPr>
              <a:t>Program 1 is owned by JHU / material developers; Program 2 by the collaborators. The two repos are independent and share only versioned contracts.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A7FD4"/>
                </a:solidFill>
                <a:latin typeface="Calibr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What is OTI, and why not finite differences?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6583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A7FD4"/>
                </a:solidFill>
              </a:rPr>
              <a:t>•  </a:t>
            </a:r>
            <a:r>
              <a:rPr sz="1500" b="1" i="0">
                <a:solidFill>
                  <a:srgbClr val="1F4E79"/>
                </a:solidFill>
                <a:latin typeface="Calibri"/>
              </a:rPr>
              <a:t>OTI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 = Order-Truncated Imaginary numbers — a hypercomplex algebra for exact automatic differentiation (OTILib / HYPAD).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A7FD4"/>
                </a:solidFill>
              </a:rPr>
              <a:t>•  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Each chosen material parameter is seeded on its own imaginary </a:t>
            </a:r>
            <a:r>
              <a:rPr sz="1500" b="0" i="1">
                <a:solidFill>
                  <a:srgbClr val="1F2D3A"/>
                </a:solidFill>
                <a:latin typeface="Calibri"/>
              </a:rPr>
              <a:t>direction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; every arithmetic operation in the UMAT carries the derivative coefficient automatically.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A7FD4"/>
                </a:solidFill>
              </a:rPr>
              <a:t>•  </a:t>
            </a:r>
            <a:r>
              <a:rPr sz="1500" b="1" i="0">
                <a:solidFill>
                  <a:srgbClr val="1F4E79"/>
                </a:solidFill>
                <a:latin typeface="Calibri"/>
              </a:rPr>
              <a:t>The derivative flows through everything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 — the elastic predictor, the return-mapping Newton iterations, the tangent — with no re-derivation by hand.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A7FD4"/>
                </a:solidFill>
              </a:rPr>
              <a:t>•  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∂σ/∂p is read out from the imaginary coefficient — </a:t>
            </a:r>
            <a:r>
              <a:rPr sz="1500" b="1" i="0">
                <a:solidFill>
                  <a:srgbClr val="1F2D3A"/>
                </a:solidFill>
                <a:latin typeface="Calibri"/>
              </a:rPr>
              <a:t>exact to round-off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, with no truncation or step-size error.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A7FD4"/>
                </a:solidFill>
              </a:rPr>
              <a:t>•  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One enriched run seeds many directions at once, returning all requested derivatives together.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417320"/>
            <a:ext cx="4389120" cy="2926080"/>
          </a:xfrm>
          <a:prstGeom prst="roundRect">
            <a:avLst/>
          </a:prstGeom>
          <a:solidFill>
            <a:srgbClr val="F2F3F5"/>
          </a:solidFill>
          <a:ln w="1270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50876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50">
                <a:solidFill>
                  <a:srgbClr val="2A7FD4"/>
                </a:solidFill>
                <a:latin typeface="Consolas"/>
              </a:rPr>
              <a:t>Finite differences        OTI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5B6B7A"/>
                </a:solidFill>
                <a:latin typeface="Consolas"/>
              </a:rPr>
              <a:t>---------------------------------------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1F2D3A"/>
                </a:solidFill>
                <a:latin typeface="Consolas"/>
              </a:rPr>
              <a:t>2N+1 full runs        vs  1 enriched run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1F2D3A"/>
                </a:solidFill>
                <a:latin typeface="Consolas"/>
              </a:rPr>
              <a:t>truncation +               round-off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1F2D3A"/>
                </a:solidFill>
                <a:latin typeface="Consolas"/>
              </a:rPr>
              <a:t>  step-size error          only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1F2D3A"/>
                </a:solidFill>
                <a:latin typeface="Consolas"/>
              </a:rPr>
              <a:t>tune h per param      vs  no tuning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1F2D3A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5B6B7A"/>
                </a:solidFill>
                <a:latin typeface="Consolas"/>
              </a:rPr>
              <a:t>N = # parameters (here N = 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4572000"/>
            <a:ext cx="4389120" cy="1005840"/>
          </a:xfrm>
          <a:prstGeom prst="roundRect">
            <a:avLst/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79792" y="4663440"/>
            <a:ext cx="405993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75623"/>
                </a:solidFill>
                <a:latin typeface="Calibri"/>
              </a:rPr>
              <a:t>OTI returns the same derivative finite differences approximate — but exactly, and in one run.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A7FD4"/>
                </a:solidFill>
                <a:latin typeface="Calibri"/>
              </a:rPr>
              <a:t>PROGRAM 1 · UMAT → OTI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Overload a UMAT to return its derivatives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2A7FD4"/>
                </a:solidFill>
              </a:rPr>
              <a:t>•  </a:t>
            </a:r>
            <a:r>
              <a:rPr sz="1600" b="1" i="0">
                <a:solidFill>
                  <a:srgbClr val="1F4E79"/>
                </a:solidFill>
                <a:latin typeface="Calibri"/>
              </a:rPr>
              <a:t>Inputs</a:t>
            </a:r>
            <a:r>
              <a:rPr sz="1600" b="0" i="0">
                <a:solidFill>
                  <a:srgbClr val="1F2D3A"/>
                </a:solidFill>
                <a:latin typeface="Calibri"/>
              </a:rPr>
              <a:t>: the original UMAT source + a compact transformation contract (JSON).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2A7FD4"/>
                </a:solidFill>
              </a:rPr>
              <a:t>•  </a:t>
            </a:r>
            <a:r>
              <a:rPr sz="1600" b="1" i="0">
                <a:solidFill>
                  <a:srgbClr val="1F4E79"/>
                </a:solidFill>
                <a:latin typeface="Calibri"/>
              </a:rPr>
              <a:t>Automatic transform</a:t>
            </a:r>
            <a:r>
              <a:rPr sz="1600" b="0" i="0">
                <a:solidFill>
                  <a:srgbClr val="1F2D3A"/>
                </a:solidFill>
                <a:latin typeface="Calibri"/>
              </a:rPr>
              <a:t>: trace PROPS→STRESS dependencies, promote the required variables/operations to OTI, generate parameter seeding + coefficient extraction.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2A7FD4"/>
                </a:solidFill>
              </a:rPr>
              <a:t>•  </a:t>
            </a:r>
            <a:r>
              <a:rPr sz="1600" b="1" i="0">
                <a:solidFill>
                  <a:srgbClr val="1F4E79"/>
                </a:solidFill>
                <a:latin typeface="Calibri"/>
              </a:rPr>
              <a:t>Output</a:t>
            </a:r>
            <a:r>
              <a:rPr sz="1600" b="0" i="0">
                <a:solidFill>
                  <a:srgbClr val="1F2D3A"/>
                </a:solidFill>
                <a:latin typeface="Calibri"/>
              </a:rPr>
              <a:t>: </a:t>
            </a:r>
            <a:r>
              <a:rPr sz="1400" b="0" i="0">
                <a:solidFill>
                  <a:srgbClr val="1F2D3A"/>
                </a:solidFill>
                <a:latin typeface="Consolas"/>
              </a:rPr>
              <a:t>umat_&lt;name&gt;_oti.obj</a:t>
            </a:r>
            <a:r>
              <a:rPr sz="1600" b="0" i="0">
                <a:solidFill>
                  <a:srgbClr val="1F2D3A"/>
                </a:solidFill>
                <a:latin typeface="Calibri"/>
              </a:rPr>
              <a:t> — one relocatable object with three symbols: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5B6B7A"/>
                </a:solidFill>
              </a:rPr>
              <a:t>–  </a:t>
            </a:r>
            <a:r>
              <a:rPr sz="1400" b="0" i="0">
                <a:solidFill>
                  <a:srgbClr val="1F2D3A"/>
                </a:solidFill>
                <a:latin typeface="Consolas"/>
              </a:rPr>
              <a:t>UMAT</a:t>
            </a:r>
            <a:r>
              <a:rPr sz="1600" b="0" i="0">
                <a:solidFill>
                  <a:srgbClr val="5B6B7A"/>
                </a:solidFill>
                <a:latin typeface="Calibri"/>
              </a:rPr>
              <a:t> (original, unchanged)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5B6B7A"/>
                </a:solidFill>
              </a:rPr>
              <a:t>–  </a:t>
            </a:r>
            <a:r>
              <a:rPr sz="1400" b="0" i="0">
                <a:solidFill>
                  <a:srgbClr val="1F2D3A"/>
                </a:solidFill>
                <a:latin typeface="Consolas"/>
              </a:rPr>
              <a:t>UMAT_OTI_INTERNAL</a:t>
            </a:r>
            <a:r>
              <a:rPr sz="1600" b="0" i="0">
                <a:solidFill>
                  <a:srgbClr val="5B6B7A"/>
                </a:solidFill>
                <a:latin typeface="Calibri"/>
              </a:rPr>
              <a:t> (the OTI-promoted routine)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5B6B7A"/>
                </a:solidFill>
              </a:rPr>
              <a:t>–  </a:t>
            </a:r>
            <a:r>
              <a:rPr sz="1400" b="0" i="0">
                <a:solidFill>
                  <a:srgbClr val="1F2D3A"/>
                </a:solidFill>
                <a:latin typeface="Consolas"/>
              </a:rPr>
              <a:t>UMAT_OTI_EVAL</a:t>
            </a:r>
            <a:r>
              <a:rPr sz="1600" b="0" i="0">
                <a:solidFill>
                  <a:srgbClr val="5B6B7A"/>
                </a:solidFill>
                <a:latin typeface="Calibri"/>
              </a:rPr>
              <a:t> — offline entry returning the derivatives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2A7FD4"/>
                </a:solidFill>
              </a:rPr>
              <a:t>•  </a:t>
            </a:r>
            <a:r>
              <a:rPr sz="1600" b="1" i="0">
                <a:solidFill>
                  <a:srgbClr val="1F4E79"/>
                </a:solidFill>
                <a:latin typeface="Calibri"/>
              </a:rPr>
              <a:t>New outputs</a:t>
            </a:r>
            <a:r>
              <a:rPr sz="1600" b="0" i="0">
                <a:solidFill>
                  <a:srgbClr val="1F2D3A"/>
                </a:solidFill>
                <a:latin typeface="Calibri"/>
              </a:rPr>
              <a:t>: </a:t>
            </a:r>
            <a:r>
              <a:rPr sz="1400" b="0" i="0">
                <a:solidFill>
                  <a:srgbClr val="1F2D3A"/>
                </a:solidFill>
                <a:latin typeface="Consolas"/>
              </a:rPr>
              <a:t>DSIGMA_DP</a:t>
            </a:r>
            <a:r>
              <a:rPr sz="1600" b="0" i="0">
                <a:solidFill>
                  <a:srgbClr val="1F2D3A"/>
                </a:solidFill>
                <a:latin typeface="Calibri"/>
              </a:rPr>
              <a:t> and, for history-dependent models, </a:t>
            </a:r>
            <a:r>
              <a:rPr sz="1400" b="0" i="0">
                <a:solidFill>
                  <a:srgbClr val="1F2D3A"/>
                </a:solidFill>
                <a:latin typeface="Consolas"/>
              </a:rPr>
              <a:t>DSTATEV_DP</a:t>
            </a:r>
            <a:r>
              <a:rPr sz="1600" b="0" i="0">
                <a:solidFill>
                  <a:srgbClr val="1F2D3A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417320"/>
            <a:ext cx="4526280" cy="3566160"/>
          </a:xfrm>
          <a:prstGeom prst="roundRect">
            <a:avLst/>
          </a:prstGeom>
          <a:solidFill>
            <a:srgbClr val="F2F3F5"/>
          </a:solidFill>
          <a:ln w="1270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69480" y="1508760"/>
            <a:ext cx="4251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50">
                <a:solidFill>
                  <a:srgbClr val="2A7FD4"/>
                </a:solidFill>
                <a:latin typeface="Consolas"/>
              </a:rPr>
              <a:t>SUBROUTINE UMAT_OTI_EVAL(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1F2D3A"/>
                </a:solidFill>
                <a:latin typeface="Consolas"/>
              </a:rPr>
              <a:t>  STRESS, STATEV, DDSDDE, STRAN, DSTRAN,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1F2D3A"/>
                </a:solidFill>
                <a:latin typeface="Consolas"/>
              </a:rPr>
              <a:t>  TIME,DTIME,TEMP,DTEMP, PROPS,NPROPS,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1F2D3A"/>
                </a:solidFill>
                <a:latin typeface="Consolas"/>
              </a:rPr>
              <a:t>  NTENS,NSTATV,NPARAM,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375623"/>
                </a:solidFill>
                <a:latin typeface="Consolas"/>
              </a:rPr>
              <a:t>  DSIGMA_DP,   ! (NTENS , NPARAM)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375623"/>
                </a:solidFill>
                <a:latin typeface="Consolas"/>
              </a:rPr>
              <a:t>  DSTATEV_DP,  ! (NSTATV, NPARAM)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5B6B7A"/>
                </a:solidFill>
                <a:latin typeface="Consolas"/>
              </a:rPr>
              <a:t>  DSIGMA_DP_IN, DSTATEV_DP_IN) ! carry-in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1F2D3A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1F2D3A"/>
                </a:solidFill>
                <a:latin typeface="Consolas"/>
              </a:rPr>
              <a:t>* derivatives returned SEPARATELY,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1F2D3A"/>
                </a:solidFill>
                <a:latin typeface="Consolas"/>
              </a:rPr>
              <a:t>  never stored in STATEV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5B6B7A"/>
                </a:solidFill>
                <a:latin typeface="Consolas"/>
              </a:rPr>
              <a:t>* STATEV_OUT = physical state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486400"/>
            <a:ext cx="11155680" cy="822960"/>
          </a:xfrm>
          <a:prstGeom prst="roundRect">
            <a:avLst/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5577840"/>
            <a:ext cx="1082649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75623"/>
                </a:solidFill>
                <a:latin typeface="Calibri"/>
              </a:rPr>
              <a:t>The standard UMAT interface is preserved; derivative outputs are added. DSIGMA_DP / DSTATEV_DP are dedicated arguments — never packed into STATEV.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A7FD4"/>
                </a:solidFill>
                <a:latin typeface="Calibri"/>
              </a:rPr>
              <a:t>PROGRAM 1 ·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The transformation contract is compact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A7FD4"/>
                </a:solidFill>
              </a:rPr>
              <a:t>•  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The developer identifies </a:t>
            </a:r>
            <a:r>
              <a:rPr sz="1500" b="1" i="0">
                <a:solidFill>
                  <a:srgbClr val="1F2D3A"/>
                </a:solidFill>
                <a:latin typeface="Calibri"/>
              </a:rPr>
              <a:t>only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 the UMAT, the parameters to differentiate (name → PROPS index), and the interface sizes.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A7FD4"/>
                </a:solidFill>
              </a:rPr>
              <a:t>•  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Parameter </a:t>
            </a:r>
            <a:r>
              <a:rPr sz="1500" b="1" i="0">
                <a:solidFill>
                  <a:srgbClr val="1F2D3A"/>
                </a:solidFill>
                <a:latin typeface="Calibri"/>
              </a:rPr>
              <a:t>order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 fixes the OTI-direction order; </a:t>
            </a:r>
            <a:r>
              <a:rPr sz="1500" b="1" i="0">
                <a:solidFill>
                  <a:srgbClr val="1F2D3A"/>
                </a:solidFill>
                <a:latin typeface="Calibri"/>
              </a:rPr>
              <a:t>nparam is inferred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 as the number of parameters.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A7FD4"/>
                </a:solidFill>
              </a:rPr>
              <a:t>•  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A </a:t>
            </a:r>
            <a:r>
              <a:rPr sz="1500" b="1" i="0">
                <a:solidFill>
                  <a:srgbClr val="1F4E79"/>
                </a:solidFill>
                <a:latin typeface="Calibri"/>
              </a:rPr>
              <a:t>separate verification case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 supplies one valid baseline property vector (and optional loading path) — 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values are where to test, not how to transform.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A7FD4"/>
                </a:solidFill>
              </a:rPr>
              <a:t>•  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The program completes the </a:t>
            </a:r>
            <a:r>
              <a:rPr sz="1500" b="1" i="0">
                <a:solidFill>
                  <a:srgbClr val="1F2D3A"/>
                </a:solidFill>
                <a:latin typeface="Calibri"/>
              </a:rPr>
              <a:t>interface, derivative, history, validation, and platform settings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371600"/>
            <a:ext cx="6309360" cy="3200400"/>
          </a:xfrm>
          <a:prstGeom prst="roundRect">
            <a:avLst/>
          </a:prstGeom>
          <a:solidFill>
            <a:srgbClr val="F2F3F5"/>
          </a:solidFill>
          <a:ln w="1270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32120" y="1463040"/>
            <a:ext cx="6035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50">
                <a:solidFill>
                  <a:srgbClr val="1F2D3A"/>
                </a:solidFill>
                <a:latin typeface="Consolas"/>
              </a:rPr>
              <a:t>{  "material": "j2_linear_hardening",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1F2D3A"/>
                </a:solidFill>
                <a:latin typeface="Consolas"/>
              </a:rPr>
              <a:t>   "source": "umat_j2.for",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1F2D3A"/>
                </a:solidFill>
                <a:latin typeface="Consolas"/>
              </a:rPr>
              <a:t>   "kinematics": "small_strain",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1F2D3A"/>
                </a:solidFill>
                <a:latin typeface="Consolas"/>
              </a:rPr>
              <a:t>   "dimensions": {"stress_components": 6,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1F2D3A"/>
                </a:solidFill>
                <a:latin typeface="Consolas"/>
              </a:rPr>
              <a:t>                  "material_properties": 4,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1F2D3A"/>
                </a:solidFill>
                <a:latin typeface="Consolas"/>
              </a:rPr>
              <a:t>                  "state_variables": 1},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375623"/>
                </a:solidFill>
                <a:latin typeface="Consolas"/>
              </a:rPr>
              <a:t>   "parameters": {"E":1, "nu":2,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375623"/>
                </a:solidFill>
                <a:latin typeface="Consolas"/>
              </a:rPr>
              <a:t>                  "SIGY0":3, "H":4},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2A7FD4"/>
                </a:solidFill>
                <a:latin typeface="Consolas"/>
              </a:rPr>
              <a:t>   "derivatives": {"stress": true,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2A7FD4"/>
                </a:solidFill>
                <a:latin typeface="Consolas"/>
              </a:rPr>
              <a:t>                   "statev": "auto"}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4709160"/>
            <a:ext cx="6309360" cy="960120"/>
          </a:xfrm>
          <a:prstGeom prst="roundRect">
            <a:avLst/>
          </a:prstGeom>
          <a:solidFill>
            <a:srgbClr val="F2F3F5"/>
          </a:solidFill>
          <a:ln w="1270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32120" y="4800600"/>
            <a:ext cx="6035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50">
                <a:solidFill>
                  <a:srgbClr val="5B6B7A"/>
                </a:solidFill>
                <a:latin typeface="Consolas"/>
              </a:rPr>
              <a:t>verification.json   (separate — the baseline)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375623"/>
                </a:solidFill>
                <a:latin typeface="Consolas"/>
              </a:rPr>
              <a:t>{ "props": [210000, 0.30, 250, 2000]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580644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5B6B7A"/>
                </a:solidFill>
                <a:latin typeface="Calibri"/>
              </a:rPr>
              <a:t>The developer identifies the UMAT, the material parameters to differentiate, and one valid baseline property vector. The program completes the interface, derivative, history, validation, and platform settings automatically.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A7FD4"/>
                </a:solidFill>
                <a:latin typeface="Calibri"/>
              </a:rPr>
              <a:t>PROGRAM 1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Non-circular verification against the original UMAT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247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A7FD4"/>
                </a:solidFill>
              </a:rPr>
              <a:t>•  </a:t>
            </a:r>
            <a:r>
              <a:rPr sz="1500" b="1" i="0">
                <a:solidFill>
                  <a:srgbClr val="1F4E79"/>
                </a:solidFill>
                <a:latin typeface="Calibri"/>
              </a:rPr>
              <a:t>Primal parity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: OTI STRESS, STATEV and consistent tangent DDSDDE are compared against a </a:t>
            </a:r>
            <a:r>
              <a:rPr sz="1500" b="1" i="0">
                <a:solidFill>
                  <a:srgbClr val="1F2D3A"/>
                </a:solidFill>
                <a:latin typeface="Calibri"/>
              </a:rPr>
              <a:t>separately compiled original UMAT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 — not the transformed binary.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A7FD4"/>
                </a:solidFill>
              </a:rPr>
              <a:t>•  </a:t>
            </a:r>
            <a:r>
              <a:rPr sz="1500" b="1" i="0">
                <a:solidFill>
                  <a:srgbClr val="1F4E79"/>
                </a:solidFill>
                <a:latin typeface="Calibri"/>
              </a:rPr>
              <a:t>Derivative check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: DSIGMA_DP is compared with </a:t>
            </a:r>
            <a:r>
              <a:rPr sz="1500" b="1" i="0">
                <a:solidFill>
                  <a:srgbClr val="1F2D3A"/>
                </a:solidFill>
                <a:latin typeface="Calibri"/>
              </a:rPr>
              <a:t>central finite differences of the original UMAT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, perturbing PROPS.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A7FD4"/>
                </a:solidFill>
              </a:rPr>
              <a:t>•  </a:t>
            </a:r>
            <a:r>
              <a:rPr sz="1500" b="1" i="0">
                <a:solidFill>
                  <a:srgbClr val="1F4E79"/>
                </a:solidFill>
                <a:latin typeface="Calibri"/>
              </a:rPr>
              <a:t>Consistent tangent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: the OTI DDSDDE is checked against central FD of the original stress w.r.t. DSTRAN (the true algorithmic tangent).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A7FD4"/>
                </a:solidFill>
              </a:rPr>
              <a:t>•  </a:t>
            </a:r>
            <a:r>
              <a:rPr sz="1500" b="1" i="0">
                <a:solidFill>
                  <a:srgbClr val="1F4E79"/>
                </a:solidFill>
                <a:latin typeface="Calibri"/>
              </a:rPr>
              <a:t>Path dependence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: STRESS, STATEV, DSIGMA_DP and DSTATEV_DP are validated over a multi-increment path — elastic → plastic → unload → reload — with the state sensitivity chained across increments.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206240"/>
            <a:ext cx="2105497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61104"/>
            <a:ext cx="201405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2D3A"/>
                </a:solidFill>
                <a:latin typeface="Calibri"/>
              </a:rPr>
              <a:t>original UMAT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2D3A"/>
                </a:solidFill>
                <a:latin typeface="Calibri"/>
              </a:rPr>
              <a:t>(.obj)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90129" y="4297680"/>
            <a:ext cx="2011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A7FD4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3009" y="4206240"/>
            <a:ext cx="2105497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18729" y="4261104"/>
            <a:ext cx="201405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2D3A"/>
                </a:solidFill>
                <a:latin typeface="Calibri"/>
              </a:rPr>
              <a:t>OTI UMAT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2D3A"/>
                </a:solidFill>
                <a:latin typeface="Calibri"/>
              </a:rPr>
              <a:t>(.obj)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0218" y="4297680"/>
            <a:ext cx="2011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A7FD4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3098" y="4206240"/>
            <a:ext cx="2105497" cy="566928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88818" y="4261104"/>
            <a:ext cx="201405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4E79"/>
                </a:solidFill>
                <a:latin typeface="Calibri"/>
              </a:rPr>
              <a:t>march same</a:t>
            </a:r>
          </a:p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4E79"/>
                </a:solidFill>
                <a:latin typeface="Calibri"/>
              </a:rPr>
              <a:t>strain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0307" y="4297680"/>
            <a:ext cx="2011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A7FD4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3187" y="4206240"/>
            <a:ext cx="2105497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8907" y="4261104"/>
            <a:ext cx="201405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2D3A"/>
                </a:solidFill>
                <a:latin typeface="Calibri"/>
              </a:rPr>
              <a:t>compare STRESS,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2D3A"/>
                </a:solidFill>
                <a:latin typeface="Calibri"/>
              </a:rPr>
              <a:t>STATEV, DDSDDE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0396" y="4297680"/>
            <a:ext cx="2011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A7FD4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83276" y="4206240"/>
            <a:ext cx="2105497" cy="566928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28996" y="4261104"/>
            <a:ext cx="201405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4E79"/>
                </a:solidFill>
                <a:latin typeface="Calibri"/>
              </a:rPr>
              <a:t>FD of original</a:t>
            </a:r>
          </a:p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4E79"/>
                </a:solidFill>
                <a:latin typeface="Calibri"/>
              </a:rPr>
              <a:t>vs DSIGMA_DP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120640"/>
            <a:ext cx="11155680" cy="822960"/>
          </a:xfrm>
          <a:prstGeom prst="roundRect">
            <a:avLst/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5212080"/>
            <a:ext cx="1082649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75623"/>
                </a:solidFill>
                <a:latin typeface="Calibri"/>
              </a:rPr>
              <a:t>The reference is always an independent original-UMAT run — never a self-comparison. The framework passes only when it preserves the response AND produces accurate parameter derivatives.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0807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5B6B7A"/>
                </a:solidFill>
                <a:latin typeface="Calibri"/>
              </a:rPr>
              <a:t>Material-point pass thresholds: stress / STATEV parity ≤ 1e-8; DDSDDE, DSIGMA_DP and DSTATEV_DP vs central FD ≤ 1e-4.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A7FD4"/>
                </a:solidFill>
                <a:latin typeface="Calibri"/>
              </a:rPr>
              <a:t>PROGRAM 1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Material-point validation — all models pass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63040"/>
          <a:ext cx="11475714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6251"/>
                <a:gridCol w="2180386"/>
                <a:gridCol w="1927920"/>
                <a:gridCol w="459028"/>
                <a:gridCol w="573786"/>
                <a:gridCol w="1204950"/>
                <a:gridCol w="1319707"/>
                <a:gridCol w="1491843"/>
                <a:gridCol w="1491843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T="25400" marB="25400">
                    <a:solidFill>
                      <a:srgbClr val="4A6D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Constitutive law</a:t>
                      </a:r>
                    </a:p>
                  </a:txBody>
                  <a:tcPr marT="25400" marB="25400">
                    <a:solidFill>
                      <a:srgbClr val="4A6D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Diff. parameters</a:t>
                      </a:r>
                    </a:p>
                  </a:txBody>
                  <a:tcPr marT="25400" marB="25400">
                    <a:solidFill>
                      <a:srgbClr val="4A6D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#p</a:t>
                      </a:r>
                    </a:p>
                  </a:txBody>
                  <a:tcPr marT="25400" marB="25400">
                    <a:solidFill>
                      <a:srgbClr val="4A6D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path</a:t>
                      </a:r>
                    </a:p>
                  </a:txBody>
                  <a:tcPr marT="25400" marB="25400">
                    <a:solidFill>
                      <a:srgbClr val="4A6D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stress</a:t>
                      </a:r>
                    </a:p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parity</a:t>
                      </a:r>
                    </a:p>
                  </a:txBody>
                  <a:tcPr marT="25400" marB="25400">
                    <a:solidFill>
                      <a:srgbClr val="4A6D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DDSDDE</a:t>
                      </a:r>
                    </a:p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vs FD</a:t>
                      </a:r>
                    </a:p>
                  </a:txBody>
                  <a:tcPr marT="25400" marB="25400">
                    <a:solidFill>
                      <a:srgbClr val="4A6D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DSIGMA_DP</a:t>
                      </a:r>
                    </a:p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vs FD</a:t>
                      </a:r>
                    </a:p>
                  </a:txBody>
                  <a:tcPr marT="25400" marB="25400">
                    <a:solidFill>
                      <a:srgbClr val="4A6D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DSTATEV_DP</a:t>
                      </a:r>
                    </a:p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vs FD</a:t>
                      </a:r>
                    </a:p>
                  </a:txBody>
                  <a:tcPr marT="25400" marB="25400">
                    <a:solidFill>
                      <a:srgbClr val="4A6D8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D3A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D3A"/>
                          </a:solidFill>
                          <a:latin typeface="Calibri"/>
                        </a:rPr>
                        <a:t>Isotropic linear elastic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D3A"/>
                          </a:solidFill>
                          <a:latin typeface="Calibri"/>
                        </a:rPr>
                        <a:t>E, nu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D3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D3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D3A"/>
                          </a:solidFill>
                          <a:latin typeface="Calibri"/>
                        </a:rPr>
                        <a:t>2.1e-16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75623"/>
                          </a:solidFill>
                          <a:latin typeface="Calibri"/>
                        </a:rPr>
                        <a:t>5.1e-17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75623"/>
                          </a:solidFill>
                          <a:latin typeface="Calibri"/>
                        </a:rPr>
                        <a:t>2.3e-10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D3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D3A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 marT="12700" marB="127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D3A"/>
                          </a:solidFill>
                          <a:latin typeface="Calibri"/>
                        </a:rPr>
                        <a:t>Cubic anisotropic elastic</a:t>
                      </a:r>
                    </a:p>
                  </a:txBody>
                  <a:tcPr marT="12700" marB="127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D3A"/>
                          </a:solidFill>
                          <a:latin typeface="Calibri"/>
                        </a:rPr>
                        <a:t>C11, C12, C44</a:t>
                      </a:r>
                    </a:p>
                  </a:txBody>
                  <a:tcPr marT="12700" marB="127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D3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T="12700" marB="127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D3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T="12700" marB="127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D3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12700" marB="127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7562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12700" marB="127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75623"/>
                          </a:solidFill>
                          <a:latin typeface="Calibri"/>
                        </a:rPr>
                        <a:t>2.4e-13</a:t>
                      </a:r>
                    </a:p>
                  </a:txBody>
                  <a:tcPr marT="12700" marB="127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D3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T="12700" marB="12700">
                    <a:solidFill>
                      <a:srgbClr val="F4F6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D3A"/>
                          </a:solidFill>
                          <a:latin typeface="Calibri"/>
                        </a:rPr>
                        <a:t>M3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D3A"/>
                          </a:solidFill>
                          <a:latin typeface="Calibri"/>
                        </a:rPr>
                        <a:t>J2 plasticity, lin. hardening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D3A"/>
                          </a:solidFill>
                          <a:latin typeface="Calibri"/>
                        </a:rPr>
                        <a:t>E, nu, sig_y0, H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D3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D3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D3A"/>
                          </a:solidFill>
                          <a:latin typeface="Calibri"/>
                        </a:rPr>
                        <a:t>8.7e-17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75623"/>
                          </a:solidFill>
                          <a:latin typeface="Calibri"/>
                        </a:rPr>
                        <a:t>2.4e-08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75623"/>
                          </a:solidFill>
                          <a:latin typeface="Calibri"/>
                        </a:rPr>
                        <a:t>2.2e-08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75623"/>
                          </a:solidFill>
                          <a:latin typeface="Calibri"/>
                        </a:rPr>
                        <a:t>9.8e-09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D3A"/>
                          </a:solidFill>
                          <a:latin typeface="Calibri"/>
                        </a:rPr>
                        <a:t>M5</a:t>
                      </a:r>
                    </a:p>
                  </a:txBody>
                  <a:tcPr marT="12700" marB="127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D3A"/>
                          </a:solidFill>
                          <a:latin typeface="Calibri"/>
                        </a:rPr>
                        <a:t>Crystal-plasticity flow (Kocks)</a:t>
                      </a:r>
                    </a:p>
                  </a:txBody>
                  <a:tcPr marT="12700" marB="127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D3A"/>
                          </a:solidFill>
                          <a:latin typeface="Calibri"/>
                        </a:rPr>
                        <a:t>tau0,dG,p,q,gam0,H</a:t>
                      </a:r>
                    </a:p>
                  </a:txBody>
                  <a:tcPr marT="12700" marB="127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D3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T="12700" marB="127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D3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T="12700" marB="127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D3A"/>
                          </a:solidFill>
                          <a:latin typeface="Calibri"/>
                        </a:rPr>
                        <a:t>1.4e-16</a:t>
                      </a:r>
                    </a:p>
                  </a:txBody>
                  <a:tcPr marT="12700" marB="127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75623"/>
                          </a:solidFill>
                          <a:latin typeface="Calibri"/>
                        </a:rPr>
                        <a:t>8.2e-09</a:t>
                      </a:r>
                    </a:p>
                  </a:txBody>
                  <a:tcPr marT="12700" marB="127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75623"/>
                          </a:solidFill>
                          <a:latin typeface="Calibri"/>
                        </a:rPr>
                        <a:t>2.4e-07</a:t>
                      </a:r>
                    </a:p>
                  </a:txBody>
                  <a:tcPr marT="12700" marB="127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75623"/>
                          </a:solidFill>
                          <a:latin typeface="Calibri"/>
                        </a:rPr>
                        <a:t>1.6e-07</a:t>
                      </a:r>
                    </a:p>
                  </a:txBody>
                  <a:tcPr marT="12700" marB="12700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4297680"/>
            <a:ext cx="11155680" cy="914400"/>
          </a:xfrm>
          <a:prstGeom prst="roundRect">
            <a:avLst/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4389120"/>
            <a:ext cx="10826496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75623"/>
                </a:solidFill>
                <a:latin typeface="Calibri"/>
              </a:rPr>
              <a:t>Stress and state parity is machine precision; every parameter sensitivity matches central finite differences of the original UMAT to a few ×10⁻⁷ or better — including the path-dependent state sensitivity DSTATEV_DP propagated across increments.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4406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5B6B7A"/>
                </a:solidFill>
                <a:latin typeface="Calibri"/>
              </a:rPr>
              <a:t>M3 and M5 are validated over a 5-increment elastic→plastic→unload→reload path. M5 uses 19 OTI directions (6 DSTRAN + 6 params + 1 state + 6 stress) to chain the state-transition Jacobians.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A7FD4"/>
                </a:solidFill>
                <a:latin typeface="Calibri"/>
              </a:rPr>
              <a:t>PROGRAM 1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Source-transformation test suite (18 / 19 UMATs)</a:t>
            </a:r>
          </a:p>
        </p:txBody>
      </p:sp>
      <p:pic>
        <p:nvPicPr>
          <p:cNvPr id="5" name="Picture 4" descr="umat_transform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955279" cy="48202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03920" y="155448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2A7FD4"/>
                </a:solidFill>
              </a:rPr>
              <a:t>•  </a:t>
            </a:r>
            <a:r>
              <a:rPr sz="1300" b="1" i="0">
                <a:solidFill>
                  <a:srgbClr val="1F4E79"/>
                </a:solidFill>
                <a:latin typeface="Calibri"/>
              </a:rPr>
              <a:t>18 of 19 benchmark UMATs pass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2A7FD4"/>
                </a:solidFill>
              </a:rPr>
              <a:t>•  </a:t>
            </a:r>
            <a:r>
              <a:rPr sz="1300" b="0" i="0">
                <a:solidFill>
                  <a:srgbClr val="1F2D3A"/>
                </a:solidFill>
                <a:latin typeface="Calibri"/>
              </a:rPr>
              <a:t>Different programming approaches and constitutive models: elasticity, plasticity, viscoplasticity, finite-strain.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2A7FD4"/>
                </a:solidFill>
              </a:rPr>
              <a:t>•  </a:t>
            </a:r>
            <a:r>
              <a:rPr sz="1300" b="0" i="0">
                <a:solidFill>
                  <a:srgbClr val="1F2D3A"/>
                </a:solidFill>
                <a:latin typeface="Calibri"/>
              </a:rPr>
              <a:t>OTI STRESS/STATEV/DDSDDE compared with the original UMAT in Abaqus.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2A7FD4"/>
                </a:solidFill>
              </a:rPr>
              <a:t>•  </a:t>
            </a:r>
            <a:r>
              <a:rPr sz="1300" b="0" i="0">
                <a:solidFill>
                  <a:srgbClr val="5B6B7A"/>
                </a:solidFill>
                <a:latin typeface="Calibri"/>
              </a:rPr>
              <a:t>The lone non-pass (UMAT_VPDCL_R) is an original job that did not converge.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4434840"/>
            <a:ext cx="3246120" cy="1783080"/>
          </a:xfrm>
          <a:prstGeom prst="roundRect">
            <a:avLst/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68512" y="4526280"/>
            <a:ext cx="2916936" cy="160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75623"/>
                </a:solidFill>
                <a:latin typeface="Calibri"/>
              </a:rPr>
              <a:t>The tool even caught a human error: spin_elas_def's large DDSDDE discrepancy (740) prompted an investigation that found a real bug in the original UMAT.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A7FD4"/>
                </a:solidFill>
                <a:latin typeface="Calibri"/>
              </a:rPr>
              <a:t>PROGRAM 2 · RESIDUAL ASSEMBLER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Reconstruct sensitivities offline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6583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A7FD4"/>
                </a:solidFill>
              </a:rPr>
              <a:t>•  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Links the distributed </a:t>
            </a:r>
            <a:r>
              <a:rPr sz="1400" b="0" i="0">
                <a:solidFill>
                  <a:srgbClr val="1F2D3A"/>
                </a:solidFill>
                <a:latin typeface="Consolas"/>
              </a:rPr>
              <a:t>.obj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 directly — no source, no recompilation of private code.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A7FD4"/>
                </a:solidFill>
              </a:rPr>
              <a:t>•  </a:t>
            </a:r>
            <a:r>
              <a:rPr sz="1500" b="1" i="0">
                <a:solidFill>
                  <a:srgbClr val="1F4E79"/>
                </a:solidFill>
                <a:latin typeface="Calibri"/>
              </a:rPr>
              <a:t>Replays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 the OTI UMAT at each integration point of a converged FE record; for a path-dependent material it marches every increment carrying the state AND its parameter sensitivity.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A7FD4"/>
                </a:solidFill>
              </a:rPr>
              <a:t>•  </a:t>
            </a:r>
            <a:r>
              <a:rPr sz="1500" b="1" i="0">
                <a:solidFill>
                  <a:srgbClr val="1F4E79"/>
                </a:solidFill>
                <a:latin typeface="Calibri"/>
              </a:rPr>
              <a:t>Assembles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 the residual R, its sensitivity ∂R/∂p = Σ Bᵀ (∂σ/∂p) dV, and the tangent K = Σ Bᵀ D B dV.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A7FD4"/>
                </a:solidFill>
              </a:rPr>
              <a:t>•  </a:t>
            </a:r>
            <a:r>
              <a:rPr sz="1500" b="1" i="0">
                <a:solidFill>
                  <a:srgbClr val="1F4E79"/>
                </a:solidFill>
                <a:latin typeface="Calibri"/>
              </a:rPr>
              <a:t>Solves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  K ∂u/∂p = − ∂R/∂p  for the free DOFs.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A7FD4"/>
                </a:solidFill>
              </a:rPr>
              <a:t>•  </a:t>
            </a:r>
            <a:r>
              <a:rPr sz="1500" b="1" i="0">
                <a:solidFill>
                  <a:srgbClr val="1F4E79"/>
                </a:solidFill>
                <a:latin typeface="Calibri"/>
              </a:rPr>
              <a:t>Evaluates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 each requested ∂q/∂p = ∂q/∂p|explicit + (∂q/∂u) ∂u/∂p.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A7FD4"/>
                </a:solidFill>
              </a:rPr>
              <a:t>•  </a:t>
            </a:r>
            <a:r>
              <a:rPr sz="1500" b="1" i="0">
                <a:solidFill>
                  <a:srgbClr val="1F4E79"/>
                </a:solidFill>
                <a:latin typeface="Calibri"/>
              </a:rPr>
              <a:t>No new primal solve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 in production — the analysis is replayed, not rerun.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417320"/>
            <a:ext cx="4389120" cy="2011680"/>
          </a:xfrm>
          <a:prstGeom prst="roundRect">
            <a:avLst/>
          </a:prstGeom>
          <a:solidFill>
            <a:srgbClr val="F2F3F5"/>
          </a:solidFill>
          <a:ln w="1270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50876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50">
                <a:solidFill>
                  <a:srgbClr val="2A7FD4"/>
                </a:solidFill>
                <a:latin typeface="Consolas"/>
              </a:rPr>
              <a:t>K ∂u/∂p = − ∂R/∂p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1F2D3A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1F2D3A"/>
                </a:solidFill>
                <a:latin typeface="Consolas"/>
              </a:rPr>
              <a:t>∂R/∂p = Σ Bᵀ (∂σ/∂p) dV  − ∂Fext/∂p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1F2D3A"/>
                </a:solidFill>
                <a:latin typeface="Consolas"/>
              </a:rPr>
              <a:t>K     = Σ Bᵀ D B dV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375623"/>
                </a:solidFill>
                <a:latin typeface="Consolas"/>
              </a:rPr>
              <a:t>∂q/∂p = ∂q/∂p|exp + (∂q/∂u)·∂u/∂p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3749039"/>
            <a:ext cx="4389120" cy="1188720"/>
          </a:xfrm>
          <a:prstGeom prst="roundRect">
            <a:avLst/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79792" y="3840479"/>
            <a:ext cx="4059936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75623"/>
                </a:solidFill>
                <a:latin typeface="Calibri"/>
              </a:rPr>
              <a:t>One job file produces the requested sensitivities without rerunning the production analysis.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A7FD4"/>
                </a:solidFill>
                <a:latin typeface="Calibri"/>
              </a:rPr>
              <a:t>PROGRAM 2 ·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One sensitivity job drives the whole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A7FD4"/>
                </a:solidFill>
              </a:rPr>
              <a:t>•  </a:t>
            </a:r>
            <a:r>
              <a:rPr sz="1500" b="1" i="0">
                <a:solidFill>
                  <a:srgbClr val="1F4E79"/>
                </a:solidFill>
                <a:latin typeface="Calibri"/>
              </a:rPr>
              <a:t>Seven groups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: schema, material, analysis, location, parameters, outputs, result.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A7FD4"/>
                </a:solidFill>
              </a:rPr>
              <a:t>•  </a:t>
            </a:r>
            <a:r>
              <a:rPr sz="1350" b="0" i="0">
                <a:solidFill>
                  <a:srgbClr val="1F2D3A"/>
                </a:solidFill>
                <a:latin typeface="Consolas"/>
              </a:rPr>
              <a:t>material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: the OTI .obj + completed contract.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A7FD4"/>
                </a:solidFill>
              </a:rPr>
              <a:t>•  </a:t>
            </a:r>
            <a:r>
              <a:rPr sz="1350" b="0" i="0">
                <a:solidFill>
                  <a:srgbClr val="1F2D3A"/>
                </a:solidFill>
                <a:latin typeface="Consolas"/>
              </a:rPr>
              <a:t>analysis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: FE model + converged replay record.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A7FD4"/>
                </a:solidFill>
              </a:rPr>
              <a:t>•  </a:t>
            </a:r>
            <a:r>
              <a:rPr sz="1350" b="0" i="0">
                <a:solidFill>
                  <a:srgbClr val="1F2D3A"/>
                </a:solidFill>
                <a:latin typeface="Consolas"/>
              </a:rPr>
              <a:t>outputs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: response, set, component and spatial reduction (average / sum / volume-average).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A7FD4"/>
                </a:solidFill>
              </a:rPr>
              <a:t>•  </a:t>
            </a:r>
            <a:r>
              <a:rPr sz="1500" b="0" i="1">
                <a:solidFill>
                  <a:srgbClr val="5B6B7A"/>
                </a:solidFill>
                <a:latin typeface="Calibri"/>
              </a:rPr>
              <a:t>Request only the sensitivities the collaborator needs.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371600"/>
            <a:ext cx="6309360" cy="4297680"/>
          </a:xfrm>
          <a:prstGeom prst="roundRect">
            <a:avLst/>
          </a:prstGeom>
          <a:solidFill>
            <a:srgbClr val="F2F3F5"/>
          </a:solidFill>
          <a:ln w="1270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32120" y="1463040"/>
            <a:ext cx="6035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50">
                <a:solidFill>
                  <a:srgbClr val="1F2D3A"/>
                </a:solidFill>
                <a:latin typeface="Consolas"/>
              </a:rPr>
              <a:t>{ "schema": "resasm_sensitivity_job_v1",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375623"/>
                </a:solidFill>
                <a:latin typeface="Consolas"/>
              </a:rPr>
              <a:t>  "material": {"oti_umat":"..._oti.obj",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375623"/>
                </a:solidFill>
                <a:latin typeface="Consolas"/>
              </a:rPr>
              <a:t>               "contract":"..._oti.json"},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1F2D3A"/>
                </a:solidFill>
                <a:latin typeface="Consolas"/>
              </a:rPr>
              <a:t>  "analysis": {"model":"cube.inp",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1F2D3A"/>
                </a:solidFill>
                <a:latin typeface="Consolas"/>
              </a:rPr>
              <a:t>               "record":"cube.resrec.h5"},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1F2D3A"/>
                </a:solidFill>
                <a:latin typeface="Consolas"/>
              </a:rPr>
              <a:t>  "location": {"step":"LOAD","increment":"last"},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2A7FD4"/>
                </a:solidFill>
                <a:latin typeface="Consolas"/>
              </a:rPr>
              <a:t>  "parameters": ["tau0","dG","q","p","gam0","H"],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1F2D3A"/>
                </a:solidFill>
                <a:latin typeface="Consolas"/>
              </a:rPr>
              <a:t>  "outputs": [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1F2D3A"/>
                </a:solidFill>
                <a:latin typeface="Consolas"/>
              </a:rPr>
              <a:t>    {"type":"integration_point_stress",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1F2D3A"/>
                </a:solidFill>
                <a:latin typeface="Consolas"/>
              </a:rPr>
              <a:t>     "region":{"element_set":"DOMAIN"},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1F2D3A"/>
                </a:solidFill>
                <a:latin typeface="Consolas"/>
              </a:rPr>
              <a:t>     "component":"S12","reduction":"volume_average"}],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1F2D3A"/>
                </a:solidFill>
                <a:latin typeface="Consolas"/>
              </a:rPr>
              <a:t>  "result": {"summary_csv": true} 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A7FD4"/>
                </a:solidFill>
                <a:latin typeface="Calibri"/>
              </a:rPr>
              <a:t>PROGRAM 2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Checked against full-analysis finite differences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A7FD4"/>
                </a:solidFill>
              </a:rPr>
              <a:t>•  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Baseline + perturbed FE analyses are run with the </a:t>
            </a:r>
            <a:r>
              <a:rPr sz="1500" b="1" i="0">
                <a:solidFill>
                  <a:srgbClr val="1F2D3A"/>
                </a:solidFill>
                <a:latin typeface="Calibri"/>
              </a:rPr>
              <a:t>regular UMAT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 — no hard-coded constitutive law anywhere in the reference.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A7FD4"/>
                </a:solidFill>
              </a:rPr>
              <a:t>•  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The framework uses the baseline record + OTI .obj to compute R, ∂R/∂p, ∂u/∂p and each requested ∂q/∂p.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A7FD4"/>
                </a:solidFill>
              </a:rPr>
              <a:t>•  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Framework sensitivities are compared with </a:t>
            </a:r>
            <a:r>
              <a:rPr sz="1500" b="1" i="0">
                <a:solidFill>
                  <a:srgbClr val="1F2D3A"/>
                </a:solidFill>
                <a:latin typeface="Calibri"/>
              </a:rPr>
              <a:t>centered finite differences of the perturbed regular-UMAT analyses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A7FD4"/>
                </a:solidFill>
              </a:rPr>
              <a:t>•  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Passes when global displacement and response sensitivities agree with the independent full-analysis finite differences.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297680"/>
            <a:ext cx="2105497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352544"/>
            <a:ext cx="201405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2D3A"/>
                </a:solidFill>
                <a:latin typeface="Calibri"/>
              </a:rPr>
              <a:t>regular UMAT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2D3A"/>
                </a:solidFill>
                <a:latin typeface="Calibri"/>
              </a:rPr>
              <a:t>baseline + ±h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90129" y="4389120"/>
            <a:ext cx="2011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A7FD4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3009" y="4297680"/>
            <a:ext cx="2105497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18729" y="4352544"/>
            <a:ext cx="201405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2D3A"/>
                </a:solidFill>
                <a:latin typeface="Calibri"/>
              </a:rPr>
              <a:t>full FE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2D3A"/>
                </a:solidFill>
                <a:latin typeface="Calibri"/>
              </a:rPr>
              <a:t>analyses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0218" y="4389120"/>
            <a:ext cx="2011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A7FD4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3098" y="4297680"/>
            <a:ext cx="2105497" cy="566928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88818" y="4352544"/>
            <a:ext cx="201405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4E79"/>
                </a:solidFill>
                <a:latin typeface="Calibri"/>
              </a:rPr>
              <a:t>central FD</a:t>
            </a:r>
          </a:p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4E79"/>
                </a:solidFill>
                <a:latin typeface="Calibri"/>
              </a:rPr>
              <a:t>∂q/∂p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0307" y="4389120"/>
            <a:ext cx="2011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A7FD4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3187" y="4297680"/>
            <a:ext cx="2105497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8907" y="4352544"/>
            <a:ext cx="201405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2D3A"/>
                </a:solidFill>
                <a:latin typeface="Calibri"/>
              </a:rPr>
              <a:t>residual method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2D3A"/>
                </a:solidFill>
                <a:latin typeface="Calibri"/>
              </a:rPr>
              <a:t>(OTI .obj)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0396" y="4389120"/>
            <a:ext cx="2011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A7FD4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83276" y="4297680"/>
            <a:ext cx="2105497" cy="566928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28996" y="4352544"/>
            <a:ext cx="201405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4E79"/>
                </a:solidFill>
                <a:latin typeface="Calibri"/>
              </a:rPr>
              <a:t>agree?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303520"/>
            <a:ext cx="11155680" cy="822960"/>
          </a:xfrm>
          <a:prstGeom prst="roundRect">
            <a:avLst/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5394960"/>
            <a:ext cx="1082649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75623"/>
                </a:solidFill>
                <a:latin typeface="Calibri"/>
              </a:rPr>
              <a:t>Elastic end-to-end matrix (M1, M2 × displacement/force control): equilibrium ‖R_free‖ ~1e-13, worst sensitivity error &lt; 4e-9 vs full-analysis FD.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A7FD4"/>
                </a:solidFill>
                <a:latin typeface="Calibri"/>
              </a:rPr>
              <a:t>PROGRAM 2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Crystal-plasticity sensitivities in one OTI run</a:t>
            </a:r>
          </a:p>
        </p:txBody>
      </p:sp>
      <p:pic>
        <p:nvPicPr>
          <p:cNvPr id="5" name="Picture 4" descr="weighted_sigvm_sensitiv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6949440" cy="4439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35240" y="155448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2A7FD4"/>
                </a:solidFill>
              </a:rPr>
              <a:t>•  </a:t>
            </a:r>
            <a:r>
              <a:rPr sz="1350" b="0" i="0">
                <a:solidFill>
                  <a:srgbClr val="1F2D3A"/>
                </a:solidFill>
                <a:latin typeface="Calibri"/>
              </a:rPr>
              <a:t>Single C3D8 element, simple shear, E12: 0 → 0.05 over 50 increments.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2A7FD4"/>
                </a:solidFill>
              </a:rPr>
              <a:t>•  </a:t>
            </a:r>
            <a:r>
              <a:rPr sz="1350" b="0" i="0">
                <a:solidFill>
                  <a:srgbClr val="1F2D3A"/>
                </a:solidFill>
                <a:latin typeface="Calibri"/>
              </a:rPr>
              <a:t>All six sensitivities of σ_vM obtained in </a:t>
            </a:r>
            <a:r>
              <a:rPr sz="1350" b="1" i="0">
                <a:solidFill>
                  <a:srgbClr val="1F4E79"/>
                </a:solidFill>
                <a:latin typeface="Calibri"/>
              </a:rPr>
              <a:t>one enriched OTI run</a:t>
            </a:r>
            <a:r>
              <a:rPr sz="1350" b="0" i="0">
                <a:solidFill>
                  <a:srgbClr val="1F2D3A"/>
                </a:solidFill>
                <a:latin typeface="Calibri"/>
              </a:rPr>
              <a:t>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2A7FD4"/>
                </a:solidFill>
              </a:rPr>
              <a:t>•  </a:t>
            </a:r>
            <a:r>
              <a:rPr sz="1350" b="0" i="0">
                <a:solidFill>
                  <a:srgbClr val="1F2D3A"/>
                </a:solidFill>
                <a:latin typeface="Calibri"/>
              </a:rPr>
              <a:t>y-axis is a </a:t>
            </a:r>
            <a:r>
              <a:rPr sz="1350" b="1" i="0">
                <a:solidFill>
                  <a:srgbClr val="1F2D3A"/>
                </a:solidFill>
                <a:latin typeface="Calibri"/>
              </a:rPr>
              <a:t>weighted</a:t>
            </a:r>
            <a:r>
              <a:rPr sz="1350" b="0" i="0">
                <a:solidFill>
                  <a:srgbClr val="1F2D3A"/>
                </a:solidFill>
                <a:latin typeface="Calibri"/>
              </a:rPr>
              <a:t> sensitivity — weighted = |p · dσ_vM/dp|, normalized to 100% — so different units compare on one scale.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2A7FD4"/>
                </a:solidFill>
              </a:rPr>
              <a:t>•  </a:t>
            </a:r>
            <a:r>
              <a:rPr sz="1350" b="0" i="0">
                <a:solidFill>
                  <a:srgbClr val="1F2D3A"/>
                </a:solidFill>
                <a:latin typeface="Calibri"/>
              </a:rPr>
              <a:t>Glide exponents q, p and activation energy ΔG dominate; hardening H grows with strain; γ₀ stays small.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2A7FD4"/>
                </a:solidFill>
              </a:rPr>
              <a:t>•  </a:t>
            </a:r>
            <a:r>
              <a:rPr sz="1350" b="0" i="0">
                <a:solidFill>
                  <a:srgbClr val="5B6B7A"/>
                </a:solidFill>
                <a:latin typeface="Calibri"/>
              </a:rPr>
              <a:t>σ_vM reaches 1.58 GPa at E12 = 0.05.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5029200"/>
            <a:ext cx="4114800" cy="731520"/>
          </a:xfrm>
          <a:prstGeom prst="roundRect">
            <a:avLst/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99832" y="5120640"/>
            <a:ext cx="378561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75623"/>
                </a:solidFill>
                <a:latin typeface="Calibri"/>
              </a:rPr>
              <a:t>Six flow-rule sensitivities, one simulation.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A7FD4"/>
                </a:solidFill>
                <a:latin typeface="Calibri"/>
              </a:rPr>
              <a:t>PROGRAM 2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OTI matches finite differences — accuracy</a:t>
            </a:r>
          </a:p>
        </p:txBody>
      </p:sp>
      <p:pic>
        <p:nvPicPr>
          <p:cNvPr id="5" name="Picture 4" descr="dsigvm_dp_oti_vs_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8412480" cy="47415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35440" y="173736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2A7FD4"/>
                </a:solidFill>
              </a:rPr>
              <a:t>•  </a:t>
            </a:r>
            <a:r>
              <a:rPr sz="1350" b="0" i="0">
                <a:solidFill>
                  <a:srgbClr val="1F2D3A"/>
                </a:solidFill>
                <a:latin typeface="Calibri"/>
              </a:rPr>
              <a:t>dσ_vM/dp along the shear path.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2A7FD4"/>
                </a:solidFill>
              </a:rPr>
              <a:t>•  </a:t>
            </a:r>
            <a:r>
              <a:rPr sz="1350" b="0" i="0">
                <a:solidFill>
                  <a:srgbClr val="1F2D3A"/>
                </a:solidFill>
                <a:latin typeface="Calibri"/>
              </a:rPr>
              <a:t>OTI (line) vs central FD (points) — indistinguishable.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2A7FD4"/>
                </a:solidFill>
              </a:rPr>
              <a:t>•  </a:t>
            </a:r>
            <a:r>
              <a:rPr sz="1350" b="0" i="0">
                <a:solidFill>
                  <a:srgbClr val="1F2D3A"/>
                </a:solidFill>
                <a:latin typeface="Calibri"/>
              </a:rPr>
              <a:t>Worst relative RMSE </a:t>
            </a:r>
            <a:r>
              <a:rPr sz="1350" b="1" i="0">
                <a:solidFill>
                  <a:srgbClr val="375623"/>
                </a:solidFill>
                <a:latin typeface="Calibri"/>
              </a:rPr>
              <a:t>2.8e-9</a:t>
            </a:r>
            <a:r>
              <a:rPr sz="1350" b="0" i="0">
                <a:solidFill>
                  <a:srgbClr val="1F2D3A"/>
                </a:solidFill>
                <a:latin typeface="Calibri"/>
              </a:rPr>
              <a:t> across all six parameters.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4846320"/>
            <a:ext cx="2606040" cy="1005840"/>
          </a:xfrm>
          <a:prstGeom prst="roundRect">
            <a:avLst/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00032" y="4937760"/>
            <a:ext cx="22768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75623"/>
                </a:solidFill>
                <a:latin typeface="Calibri"/>
              </a:rPr>
              <a:t>OTI is exact to FD truncation — the gold-standard reference.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A7FD4"/>
                </a:solidFill>
                <a:latin typeface="Calibri"/>
              </a:rPr>
              <a:t>PROGRAM 2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One enriched run vs many finite-difference runs</a:t>
            </a:r>
          </a:p>
        </p:txBody>
      </p:sp>
      <p:pic>
        <p:nvPicPr>
          <p:cNvPr id="5" name="Picture 4" descr="normalized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00200"/>
            <a:ext cx="536713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89320" y="1737360"/>
            <a:ext cx="5715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2A7FD4"/>
                </a:solidFill>
              </a:rPr>
              <a:t>•  </a:t>
            </a:r>
            <a:r>
              <a:rPr sz="1400" b="0" i="0">
                <a:solidFill>
                  <a:srgbClr val="1F2D3A"/>
                </a:solidFill>
                <a:latin typeface="Calibri"/>
              </a:rPr>
              <a:t>Central differences need </a:t>
            </a:r>
            <a:r>
              <a:rPr sz="1400" b="1" i="0">
                <a:solidFill>
                  <a:srgbClr val="1F2D3A"/>
                </a:solidFill>
                <a:latin typeface="Calibri"/>
              </a:rPr>
              <a:t>2 × 6 + 1 = 13</a:t>
            </a:r>
            <a:r>
              <a:rPr sz="1400" b="0" i="0">
                <a:solidFill>
                  <a:srgbClr val="1F2D3A"/>
                </a:solidFill>
                <a:latin typeface="Calibri"/>
              </a:rPr>
              <a:t> full runs for six parameters.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2A7FD4"/>
                </a:solidFill>
              </a:rPr>
              <a:t>•  </a:t>
            </a:r>
            <a:r>
              <a:rPr sz="1400" b="0" i="0">
                <a:solidFill>
                  <a:srgbClr val="1F2D3A"/>
                </a:solidFill>
                <a:latin typeface="Calibri"/>
              </a:rPr>
              <a:t>OTI returns all six in </a:t>
            </a:r>
            <a:r>
              <a:rPr sz="1400" b="1" i="0">
                <a:solidFill>
                  <a:srgbClr val="1F4E79"/>
                </a:solidFill>
                <a:latin typeface="Calibri"/>
              </a:rPr>
              <a:t>one</a:t>
            </a:r>
            <a:r>
              <a:rPr sz="1400" b="0" i="0">
                <a:solidFill>
                  <a:srgbClr val="1F2D3A"/>
                </a:solidFill>
                <a:latin typeface="Calibri"/>
              </a:rPr>
              <a:t> enriched march.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2A7FD4"/>
                </a:solidFill>
              </a:rPr>
              <a:t>•  </a:t>
            </a:r>
            <a:r>
              <a:rPr sz="1400" b="0" i="0">
                <a:solidFill>
                  <a:srgbClr val="1F2D3A"/>
                </a:solidFill>
                <a:latin typeface="Calibri"/>
              </a:rPr>
              <a:t>The state-alive whole-path march costs ~5.5× a plain UMAT run and returns every sensitivity plus the tangent — </a:t>
            </a:r>
            <a:r>
              <a:rPr sz="1400" b="1" i="0">
                <a:solidFill>
                  <a:srgbClr val="1F2D3A"/>
                </a:solidFill>
                <a:latin typeface="Calibri"/>
              </a:rPr>
              <a:t>about 2.4× faster than the 13 finite-difference runs</a:t>
            </a:r>
            <a:r>
              <a:rPr sz="1400" b="0" i="0">
                <a:solidFill>
                  <a:srgbClr val="1F2D3A"/>
                </a:solidFill>
                <a:latin typeface="Calibri"/>
              </a:rPr>
              <a:t>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2A7FD4"/>
                </a:solidFill>
              </a:rPr>
              <a:t>•  </a:t>
            </a:r>
            <a:r>
              <a:rPr sz="1400" b="0" i="0">
                <a:solidFill>
                  <a:srgbClr val="5B6B7A"/>
                </a:solidFill>
                <a:latin typeface="Calibri"/>
              </a:rPr>
              <a:t>An optimized OTI library reduces the per-run overhead substantially (≈1.1× reported elsewhere).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4846320"/>
            <a:ext cx="5715000" cy="1005840"/>
          </a:xfrm>
          <a:prstGeom prst="roundRect">
            <a:avLst/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53912" y="4937760"/>
            <a:ext cx="538581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75623"/>
                </a:solidFill>
                <a:latin typeface="Calibri"/>
              </a:rPr>
              <a:t>Fewer runs, and every derivative is exact — accuracy and cost both favor OTI over finite differences.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A7FD4"/>
                </a:solidFill>
                <a:latin typeface="Calibri"/>
              </a:rPr>
              <a:t>PROGRAM 2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The residual solve is mesh independent</a:t>
            </a:r>
          </a:p>
        </p:txBody>
      </p:sp>
      <p:pic>
        <p:nvPicPr>
          <p:cNvPr id="5" name="Picture 4" descr="weighted_sigvm_sensitivities_4x4x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6949440" cy="4439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35240" y="1554480"/>
            <a:ext cx="4114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2A7FD4"/>
                </a:solidFill>
              </a:rPr>
              <a:t>•  </a:t>
            </a:r>
            <a:r>
              <a:rPr sz="1350" b="0" i="0">
                <a:solidFill>
                  <a:srgbClr val="1F2D3A"/>
                </a:solidFill>
                <a:latin typeface="Calibri"/>
              </a:rPr>
              <a:t>Full residual solve on a </a:t>
            </a:r>
            <a:r>
              <a:rPr sz="1350" b="1" i="0">
                <a:solidFill>
                  <a:srgbClr val="1F4E79"/>
                </a:solidFill>
                <a:latin typeface="Calibri"/>
              </a:rPr>
              <a:t>4×4×4 C3D8 mesh</a:t>
            </a:r>
            <a:r>
              <a:rPr sz="1350" b="0" i="0">
                <a:solidFill>
                  <a:srgbClr val="1F2D3A"/>
                </a:solidFill>
                <a:latin typeface="Calibri"/>
              </a:rPr>
              <a:t> (64 elements, 375 DOF) under controlled simple shear, 50 increments.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2A7FD4"/>
                </a:solidFill>
              </a:rPr>
              <a:t>•  </a:t>
            </a:r>
            <a:r>
              <a:rPr sz="1350" b="0" i="0">
                <a:solidFill>
                  <a:srgbClr val="1F2D3A"/>
                </a:solidFill>
                <a:latin typeface="Calibri"/>
              </a:rPr>
              <a:t>Global K and ∂R/∂p assembled; K ∂u/∂p = −∂R/∂p solved for the free DOFs.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2A7FD4"/>
                </a:solidFill>
              </a:rPr>
              <a:t>•  </a:t>
            </a:r>
            <a:r>
              <a:rPr sz="1350" b="0" i="0">
                <a:solidFill>
                  <a:srgbClr val="1F2D3A"/>
                </a:solidFill>
                <a:latin typeface="Calibri"/>
              </a:rPr>
              <a:t>Homogeneous deformation ⇒ ‖∂u/∂p‖ = </a:t>
            </a:r>
            <a:r>
              <a:rPr sz="1350" b="1" i="0">
                <a:solidFill>
                  <a:srgbClr val="375623"/>
                </a:solidFill>
                <a:latin typeface="Calibri"/>
              </a:rPr>
              <a:t>4.5e-18</a:t>
            </a:r>
            <a:r>
              <a:rPr sz="1350" b="0" i="0">
                <a:solidFill>
                  <a:srgbClr val="1F2D3A"/>
                </a:solidFill>
                <a:latin typeface="Calibri"/>
              </a:rPr>
              <a:t>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2A7FD4"/>
                </a:solidFill>
              </a:rPr>
              <a:t>•  </a:t>
            </a:r>
            <a:r>
              <a:rPr sz="1350" b="0" i="0">
                <a:solidFill>
                  <a:srgbClr val="1F2D3A"/>
                </a:solidFill>
                <a:latin typeface="Calibri"/>
              </a:rPr>
              <a:t>Volume-averaged σ_vM sensitivities match the single element to </a:t>
            </a:r>
            <a:r>
              <a:rPr sz="1350" b="1" i="0">
                <a:solidFill>
                  <a:srgbClr val="375623"/>
                </a:solidFill>
                <a:latin typeface="Calibri"/>
              </a:rPr>
              <a:t>1.0e-14</a:t>
            </a:r>
            <a:r>
              <a:rPr sz="1350" b="0" i="0">
                <a:solidFill>
                  <a:srgbClr val="1F2D3A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4937760"/>
            <a:ext cx="4114800" cy="868680"/>
          </a:xfrm>
          <a:prstGeom prst="roundRect">
            <a:avLst/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99832" y="5029200"/>
            <a:ext cx="378561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75623"/>
                </a:solidFill>
                <a:latin typeface="Calibri"/>
              </a:rPr>
              <a:t>Sensitivities are mesh independent — a direct check of the global residual assembly.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A7FD4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Both programs validated, end to end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1115567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661"/>
                <a:gridCol w="3861581"/>
                <a:gridCol w="3861581"/>
                <a:gridCol w="2359855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T="25400" marB="25400">
                    <a:solidFill>
                      <a:srgbClr val="4A6D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What it delivers</a:t>
                      </a:r>
                    </a:p>
                  </a:txBody>
                  <a:tcPr marT="25400" marB="25400">
                    <a:solidFill>
                      <a:srgbClr val="4A6D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How it is verified</a:t>
                      </a:r>
                    </a:p>
                  </a:txBody>
                  <a:tcPr marT="25400" marB="25400">
                    <a:solidFill>
                      <a:srgbClr val="4A6D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 marT="25400" marB="25400">
                    <a:solidFill>
                      <a:srgbClr val="4A6D8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4E79"/>
                          </a:solidFill>
                          <a:latin typeface="Calibri"/>
                        </a:rPr>
                        <a:t>Program 1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D3A"/>
                          </a:solidFill>
                          <a:latin typeface="Calibri"/>
                        </a:rPr>
                        <a:t>UMAT → OTI .obj returning DSIGMA_DP / DSTATEV_DP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D3A"/>
                          </a:solidFill>
                          <a:latin typeface="Calibri"/>
                        </a:rPr>
                        <a:t>vs separately compiled original UMAT + FD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75623"/>
                          </a:solidFill>
                          <a:latin typeface="Calibri"/>
                        </a:rPr>
                        <a:t>18/19 UMATs; sens ≤2.4e-7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4E79"/>
                          </a:solidFill>
                          <a:latin typeface="Calibri"/>
                        </a:rPr>
                        <a:t>Program 2</a:t>
                      </a:r>
                    </a:p>
                  </a:txBody>
                  <a:tcPr marT="12700" marB="127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D3A"/>
                          </a:solidFill>
                          <a:latin typeface="Calibri"/>
                        </a:rPr>
                        <a:t>Offline residual solve for ∂u/∂p and ∂q/∂p</a:t>
                      </a:r>
                    </a:p>
                  </a:txBody>
                  <a:tcPr marT="12700" marB="127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D3A"/>
                          </a:solidFill>
                          <a:latin typeface="Calibri"/>
                        </a:rPr>
                        <a:t>vs full regular-UMAT finite differences</a:t>
                      </a:r>
                    </a:p>
                  </a:txBody>
                  <a:tcPr marT="12700" marB="127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75623"/>
                          </a:solidFill>
                          <a:latin typeface="Calibri"/>
                        </a:rPr>
                        <a:t>RMSE ~1e-9; mesh-indep.</a:t>
                      </a:r>
                    </a:p>
                  </a:txBody>
                  <a:tcPr marT="12700" marB="12700">
                    <a:solidFill>
                      <a:srgbClr val="F4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4E79"/>
                          </a:solidFill>
                          <a:latin typeface="Calibri"/>
                        </a:rPr>
                        <a:t>Path dep.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D3A"/>
                          </a:solidFill>
                          <a:latin typeface="Calibri"/>
                        </a:rPr>
                        <a:t>DSTATEV_DP chained across increments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D3A"/>
                          </a:solidFill>
                          <a:latin typeface="Calibri"/>
                        </a:rPr>
                        <a:t>multi-increment path vs FD of original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75623"/>
                          </a:solidFill>
                          <a:latin typeface="Calibri"/>
                        </a:rPr>
                        <a:t>M3 ~2e-8 · M5 ~2e-7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65760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A7FD4"/>
                </a:solidFill>
              </a:rPr>
              <a:t>•  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Material source stays private; the production analysis is unchanged and never rerun in production.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A7FD4"/>
                </a:solidFill>
              </a:rPr>
              <a:t>•  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One enriched run returns every requested sensitivity, matching finite differences to machine/FD precision.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A7FD4"/>
                </a:solidFill>
              </a:rPr>
              <a:t>•  </a:t>
            </a:r>
            <a:r>
              <a:rPr sz="1500" b="1" i="0">
                <a:solidFill>
                  <a:srgbClr val="1F4E79"/>
                </a:solidFill>
                <a:latin typeface="Calibri"/>
              </a:rPr>
              <a:t>Next</a:t>
            </a:r>
            <a:r>
              <a:rPr sz="1500" b="0" i="0">
                <a:solidFill>
                  <a:srgbClr val="1F2D3A"/>
                </a:solidFill>
                <a:latin typeface="Calibri"/>
              </a:rPr>
              <a:t>: drive the actual multi-slip UMAT_PCL through the assembler; add finite-strain and multi-step benchmark cases.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532120"/>
            <a:ext cx="11155680" cy="822960"/>
          </a:xfrm>
          <a:prstGeom prst="roundRect">
            <a:avLst/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5623560"/>
            <a:ext cx="1082649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75623"/>
                </a:solidFill>
                <a:latin typeface="Calibri"/>
              </a:rPr>
              <a:t>The framework preserves the original response and produces accurate parameter derivatives — for elasticity, plasticity, viscoplasticity and crystal-plasticity 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